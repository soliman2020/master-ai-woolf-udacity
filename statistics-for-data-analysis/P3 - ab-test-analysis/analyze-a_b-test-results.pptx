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1C8DA9E-B1A0-4A86-91D4-0D2497F3468D}">
  <a:tblStyle styleId="{E1C8DA9E-B1A0-4A86-91D4-0D2497F3468D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1870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6728381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925278" name="Google Shape;103;g305b2e72063_0_231:notes"/>
          <p:cNvSpPr txBox="1"/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46171511" name="Google Shape;104;g305b2e72063_0_231:notes"/>
          <p:cNvSpPr/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84049" name="Google Shape;120;g313dd687b2d_0_6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592832" name="Google Shape;121;g313dd687b2d_0_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58230" name="Google Shape;126;g313dd687b2d_0_1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11748" name="Google Shape;127;g313dd687b2d_0_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184836" name="Google Shape;133;g313dd687b2d_0_2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323299" name="Google Shape;134;g313dd687b2d_0_2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779741" name="Google Shape;140;g313dd687b2d_0_2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525095" name="Google Shape;141;g313dd687b2d_0_2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571473" name="Google Shape;140;g313dd687b2d_0_25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214863" name="Google Shape;141;g313dd687b2d_0_2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904779" name="Google Shape;140;g313dd687b2d_0_25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643914" name="Google Shape;141;g313dd687b2d_0_2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.a Lesson Title " preserve="0" showMasterPhAnim="0" showMasterSp="1" userDrawn="1">
  <p:cSld name="TITLE_1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7724196" name="Google Shape;10;p2"/>
          <p:cNvPicPr/>
          <p:nvPr/>
        </p:nvPicPr>
        <p:blipFill rotWithShape="1">
          <a:blip r:embed="rId2">
            <a:alphaModFix/>
          </a:blip>
          <a:srcRect l="0" t="3419" r="0" b="-3409"/>
          <a:stretch/>
        </p:blipFill>
        <p:spPr bwMode="auto"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629733" name="Google Shape;11;p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838043" name="Google Shape;12;p2"/>
          <p:cNvSpPr txBox="1"/>
          <p:nvPr>
            <p:ph type="ctrTitle"/>
          </p:nvPr>
        </p:nvSpPr>
        <p:spPr bwMode="auto"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79230084" name="Google Shape;13;p2"/>
          <p:cNvSpPr txBox="1"/>
          <p:nvPr/>
        </p:nvSpPr>
        <p:spPr bwMode="auto"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4288787" name="Google Shape;14;p2"/>
          <p:cNvSpPr txBox="1"/>
          <p:nvPr>
            <p:ph type="subTitle" idx="1"/>
          </p:nvPr>
        </p:nvSpPr>
        <p:spPr bwMode="auto">
          <a:xfrm>
            <a:off x="1256200" y="5959675"/>
            <a:ext cx="100398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88624949" name="Google Shape;15;p2"/>
          <p:cNvGrpSpPr/>
          <p:nvPr/>
        </p:nvGrpSpPr>
        <p:grpSpPr bwMode="auto"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/>
            <p:nvPr/>
          </p:nvPicPr>
          <p:blipFill rotWithShape="1">
            <a:blip r:embed="rId2">
              <a:alphaModFix/>
            </a:blip>
            <a:srcRect l="0" t="3419" r="0" b="-3409"/>
            <a:stretch/>
          </p:blipFill>
          <p:spPr bwMode="auto"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 bwMode="auto"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w="9525" cap="flat" cmpd="sng">
              <a:solidFill>
                <a:srgbClr val="171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</a:endParaRPr>
            </a:p>
          </p:txBody>
        </p:sp>
        <p:pic>
          <p:nvPicPr>
            <p:cNvPr id="18" name="Google Shape;18;p2"/>
            <p:cNvPicPr/>
            <p:nvPr/>
          </p:nvPicPr>
          <p:blipFill rotWithShape="1">
            <a:blip r:embed="rId4">
              <a:alphaModFix/>
            </a:blip>
            <a:stretch/>
          </p:blipFill>
          <p:spPr bwMode="auto"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8399996" name="Google Shape;19;p2"/>
          <p:cNvSpPr txBox="1"/>
          <p:nvPr/>
        </p:nvSpPr>
        <p:spPr bwMode="auto"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.b Lesson Title (Designer or Producer Only)" preserve="0" showMasterPhAnim="0" showMasterSp="1" userDrawn="1">
  <p:cSld name="SECTION_HEADER_1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3904192" name="Google Shape;21;p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01226" name="Google Shape;22;p3"/>
          <p:cNvSpPr txBox="1"/>
          <p:nvPr>
            <p:ph type="title"/>
          </p:nvPr>
        </p:nvSpPr>
        <p:spPr bwMode="auto">
          <a:xfrm>
            <a:off x="1225200" y="3735300"/>
            <a:ext cx="15837600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41378544" name="Google Shape;23;p3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217123669" name="Google Shape;24;p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a Full Bullet" preserve="0" showMasterPhAnim="0" showMasterSp="1" userDrawn="1">
  <p:cSld name="TITLE_AND_BODY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20550" name="Google Shape;26;p4"/>
          <p:cNvSpPr/>
          <p:nvPr/>
        </p:nvSpPr>
        <p:spPr bwMode="auto"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796187226" name="Google Shape;27;p4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5473673" name="Google Shape;28;p4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0569622" name="Google Shape;29;p4"/>
          <p:cNvSpPr txBox="1"/>
          <p:nvPr>
            <p:ph type="body" idx="1"/>
          </p:nvPr>
        </p:nvSpPr>
        <p:spPr bwMode="auto">
          <a:xfrm>
            <a:off x="685825" y="1828800"/>
            <a:ext cx="169164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47676877" name="Google Shape;30;p4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1199752561" name="Google Shape;31;p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g Full Graphic" preserve="0" showMasterPhAnim="0" showMasterSp="1" userDrawn="1">
  <p:cSld name="TITLE_ONLY_1_1_1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076481" name="Google Shape;33;p5"/>
          <p:cNvSpPr/>
          <p:nvPr/>
        </p:nvSpPr>
        <p:spPr bwMode="auto"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2682546" name="Google Shape;34;p5"/>
          <p:cNvSpPr txBox="1"/>
          <p:nvPr>
            <p:ph type="title"/>
          </p:nvPr>
        </p:nvSpPr>
        <p:spPr bwMode="auto">
          <a:xfrm>
            <a:off x="685800" y="0"/>
            <a:ext cx="16916400" cy="11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234565776" name="Google Shape;35;p5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b Third Card" preserve="0" showMasterPhAnim="0" showMasterSp="1" userDrawn="1">
  <p:cSld name="TITLE_AND_BODY_1_1_1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487251" name="Google Shape;37;p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697431" name="Google Shape;38;p6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573639291" name="Google Shape;39;p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44578" name="Google Shape;40;p6"/>
          <p:cNvSpPr/>
          <p:nvPr/>
        </p:nvSpPr>
        <p:spPr bwMode="auto"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462033" name="Google Shape;41;p6"/>
          <p:cNvSpPr/>
          <p:nvPr/>
        </p:nvSpPr>
        <p:spPr bwMode="auto">
          <a:xfrm>
            <a:off x="11623800" y="684300"/>
            <a:ext cx="5978400" cy="777420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83120678" name="Google Shape;42;p6"/>
          <p:cNvSpPr txBox="1"/>
          <p:nvPr/>
        </p:nvSpPr>
        <p:spPr bwMode="auto"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2000"/>
              </a:spcAft>
              <a:buNone/>
              <a:defRPr/>
            </a:pPr>
            <a:endParaRPr sz="2600" b="1">
              <a:solidFill>
                <a:srgbClr val="0B0B0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014555703" name="Google Shape;43;p6"/>
          <p:cNvSpPr txBox="1"/>
          <p:nvPr>
            <p:ph type="body" idx="1"/>
          </p:nvPr>
        </p:nvSpPr>
        <p:spPr bwMode="auto">
          <a:xfrm>
            <a:off x="12058350" y="2629500"/>
            <a:ext cx="5109600" cy="53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06725195" name="Google Shape;44;p6"/>
          <p:cNvSpPr txBox="1"/>
          <p:nvPr>
            <p:ph type="subTitle" idx="2"/>
          </p:nvPr>
        </p:nvSpPr>
        <p:spPr bwMode="auto">
          <a:xfrm>
            <a:off x="12058350" y="1120500"/>
            <a:ext cx="4868399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97757694" name="Google Shape;45;p6"/>
          <p:cNvSpPr txBox="1"/>
          <p:nvPr>
            <p:ph type="title"/>
          </p:nvPr>
        </p:nvSpPr>
        <p:spPr bwMode="auto">
          <a:xfrm>
            <a:off x="685800" y="307975"/>
            <a:ext cx="102522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5629432" name="Google Shape;46;p6"/>
          <p:cNvSpPr txBox="1"/>
          <p:nvPr>
            <p:ph type="body" idx="3"/>
          </p:nvPr>
        </p:nvSpPr>
        <p:spPr bwMode="auto"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c Half Card" preserve="0" showMasterPhAnim="0" showMasterSp="1" userDrawn="1">
  <p:cSld name="TITLE_AND_BODY_1_1_1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049086" name="Google Shape;48;p7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121950" name="Google Shape;49;p7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1403332120" name="Google Shape;50;p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8061" name="Google Shape;51;p7"/>
          <p:cNvSpPr/>
          <p:nvPr/>
        </p:nvSpPr>
        <p:spPr bwMode="auto"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9246624" name="Google Shape;52;p7"/>
          <p:cNvSpPr/>
          <p:nvPr/>
        </p:nvSpPr>
        <p:spPr bwMode="auto">
          <a:xfrm>
            <a:off x="9829800" y="684300"/>
            <a:ext cx="77724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4046008" name="Google Shape;53;p7"/>
          <p:cNvSpPr txBox="1"/>
          <p:nvPr>
            <p:ph type="body" idx="1"/>
          </p:nvPr>
        </p:nvSpPr>
        <p:spPr bwMode="auto">
          <a:xfrm>
            <a:off x="10264500" y="2194800"/>
            <a:ext cx="6903000" cy="58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61812584" name="Google Shape;54;p7"/>
          <p:cNvSpPr txBox="1"/>
          <p:nvPr>
            <p:ph type="subTitle" idx="2"/>
          </p:nvPr>
        </p:nvSpPr>
        <p:spPr bwMode="auto">
          <a:xfrm>
            <a:off x="10264500" y="1120500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15394100" name="Google Shape;55;p7"/>
          <p:cNvSpPr txBox="1"/>
          <p:nvPr>
            <p:ph type="title"/>
          </p:nvPr>
        </p:nvSpPr>
        <p:spPr bwMode="auto">
          <a:xfrm>
            <a:off x="685800" y="307975"/>
            <a:ext cx="95790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6043589" name="Google Shape;56;p7"/>
          <p:cNvSpPr txBox="1"/>
          <p:nvPr>
            <p:ph type="body" idx="3"/>
          </p:nvPr>
        </p:nvSpPr>
        <p:spPr bwMode="auto"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e Dual Card" preserve="0" showMasterPhAnim="0" showMasterSp="1" userDrawn="1">
  <p:cSld name="CUSTOM_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7326955" name="Google Shape;58;p8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162373" name="Google Shape;59;p8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532272609" name="Google Shape;60;p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3839237" name="Google Shape;61;p8"/>
          <p:cNvSpPr/>
          <p:nvPr/>
        </p:nvSpPr>
        <p:spPr bwMode="auto"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7416934" name="Google Shape;62;p8"/>
          <p:cNvSpPr/>
          <p:nvPr/>
        </p:nvSpPr>
        <p:spPr bwMode="auto">
          <a:xfrm>
            <a:off x="9487100" y="684300"/>
            <a:ext cx="81150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4917292" name="Google Shape;63;p8"/>
          <p:cNvSpPr/>
          <p:nvPr/>
        </p:nvSpPr>
        <p:spPr bwMode="auto">
          <a:xfrm rot="-5400000" flipH="1">
            <a:off x="846450" y="495600"/>
            <a:ext cx="7786200" cy="81378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1647843" name="Google Shape;64;p8"/>
          <p:cNvSpPr txBox="1"/>
          <p:nvPr>
            <p:ph type="body" idx="1"/>
          </p:nvPr>
        </p:nvSpPr>
        <p:spPr bwMode="auto">
          <a:xfrm>
            <a:off x="11205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4005060" name="Google Shape;65;p8"/>
          <p:cNvSpPr txBox="1"/>
          <p:nvPr>
            <p:ph type="subTitle" idx="2"/>
          </p:nvPr>
        </p:nvSpPr>
        <p:spPr bwMode="auto">
          <a:xfrm>
            <a:off x="11205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pPr>
              <a:defRPr/>
            </a:pPr>
            <a:endParaRPr/>
          </a:p>
        </p:txBody>
      </p:sp>
      <p:sp>
        <p:nvSpPr>
          <p:cNvPr id="52413288" name="Google Shape;66;p8"/>
          <p:cNvSpPr txBox="1"/>
          <p:nvPr>
            <p:ph type="body" idx="3"/>
          </p:nvPr>
        </p:nvSpPr>
        <p:spPr bwMode="auto">
          <a:xfrm>
            <a:off x="99218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76392285" name="Google Shape;67;p8"/>
          <p:cNvSpPr txBox="1"/>
          <p:nvPr>
            <p:ph type="subTitle" idx="4"/>
          </p:nvPr>
        </p:nvSpPr>
        <p:spPr bwMode="auto">
          <a:xfrm>
            <a:off x="99218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.f Triple Card " preserve="0" showMasterPhAnim="0" showMasterSp="1" userDrawn="1">
  <p:cSld name="CUSTOM_1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0008327" name="Google Shape;69;p9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958725" name="Google Shape;70;p9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1199947190" name="Google Shape;71;p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582413" name="Google Shape;72;p9"/>
          <p:cNvSpPr/>
          <p:nvPr/>
        </p:nvSpPr>
        <p:spPr bwMode="auto"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2055236" name="Google Shape;73;p9"/>
          <p:cNvSpPr/>
          <p:nvPr/>
        </p:nvSpPr>
        <p:spPr bwMode="auto">
          <a:xfrm>
            <a:off x="6547175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2104537" name="Google Shape;74;p9"/>
          <p:cNvSpPr/>
          <p:nvPr/>
        </p:nvSpPr>
        <p:spPr bwMode="auto">
          <a:xfrm>
            <a:off x="68580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4573054" name="Google Shape;75;p9"/>
          <p:cNvSpPr/>
          <p:nvPr/>
        </p:nvSpPr>
        <p:spPr bwMode="auto">
          <a:xfrm>
            <a:off x="1240855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95641" name="Google Shape;76;p9"/>
          <p:cNvSpPr txBox="1"/>
          <p:nvPr>
            <p:ph type="body" idx="1"/>
          </p:nvPr>
        </p:nvSpPr>
        <p:spPr bwMode="auto">
          <a:xfrm>
            <a:off x="112050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45772765" name="Google Shape;77;p9"/>
          <p:cNvSpPr txBox="1"/>
          <p:nvPr>
            <p:ph type="subTitle" idx="2"/>
          </p:nvPr>
        </p:nvSpPr>
        <p:spPr bwMode="auto">
          <a:xfrm>
            <a:off x="113475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555808156" name="Google Shape;78;p9"/>
          <p:cNvSpPr txBox="1"/>
          <p:nvPr>
            <p:ph type="body" idx="3"/>
          </p:nvPr>
        </p:nvSpPr>
        <p:spPr bwMode="auto">
          <a:xfrm>
            <a:off x="6981875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0944052" name="Google Shape;79;p9"/>
          <p:cNvSpPr txBox="1"/>
          <p:nvPr>
            <p:ph type="subTitle" idx="4"/>
          </p:nvPr>
        </p:nvSpPr>
        <p:spPr bwMode="auto">
          <a:xfrm>
            <a:off x="6996125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4468047" name="Google Shape;80;p9"/>
          <p:cNvSpPr txBox="1"/>
          <p:nvPr>
            <p:ph type="body" idx="5"/>
          </p:nvPr>
        </p:nvSpPr>
        <p:spPr bwMode="auto">
          <a:xfrm>
            <a:off x="1284325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74502563" name="Google Shape;81;p9"/>
          <p:cNvSpPr txBox="1"/>
          <p:nvPr>
            <p:ph type="subTitle" idx="6"/>
          </p:nvPr>
        </p:nvSpPr>
        <p:spPr bwMode="auto">
          <a:xfrm>
            <a:off x="1285750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874515520" name="Google Shape;82;p9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. Code" preserve="0" showMasterPhAnim="0" showMasterSp="1" userDrawn="1">
  <p:cSld name="TITLE_AND_BODY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3609780" name="Google Shape;84;p10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0394086" name="Google Shape;85;p10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134426413" name="Google Shape;86;p1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391950" name="Google Shape;87;p10"/>
          <p:cNvSpPr/>
          <p:nvPr/>
        </p:nvSpPr>
        <p:spPr bwMode="auto"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1066845" name="Google Shape;88;p10"/>
          <p:cNvSpPr txBox="1"/>
          <p:nvPr/>
        </p:nvSpPr>
        <p:spPr bwMode="auto"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2000"/>
              </a:spcAft>
              <a:buNone/>
              <a:defRPr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937911968" name="Google Shape;89;p10"/>
          <p:cNvSpPr txBox="1"/>
          <p:nvPr>
            <p:ph type="body" idx="1"/>
          </p:nvPr>
        </p:nvSpPr>
        <p:spPr bwMode="auto">
          <a:xfrm>
            <a:off x="685800" y="1554750"/>
            <a:ext cx="169164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. Dual Code" preserve="0" showMasterPhAnim="0" showMasterSp="1" userDrawn="1">
  <p:cSld name="TITLE_AND_BODY_1_1_1_1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983080" name="Google Shape;91;p11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468861" name="Google Shape;92;p11"/>
          <p:cNvSpPr/>
          <p:nvPr/>
        </p:nvSpPr>
        <p:spPr bwMode="auto"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Open Sans"/>
              <a:ea typeface="Open Sans"/>
              <a:cs typeface="Open Sans"/>
            </a:endParaRPr>
          </a:p>
        </p:txBody>
      </p:sp>
      <p:pic>
        <p:nvPicPr>
          <p:cNvPr id="356391398" name="Google Shape;93;p1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38077" name="Google Shape;94;p11"/>
          <p:cNvSpPr/>
          <p:nvPr/>
        </p:nvSpPr>
        <p:spPr bwMode="auto"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8315763" name="Google Shape;95;p11"/>
          <p:cNvSpPr txBox="1"/>
          <p:nvPr/>
        </p:nvSpPr>
        <p:spPr bwMode="auto"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4999"/>
              </a:lnSpc>
              <a:spcBef>
                <a:spcPts val="0"/>
              </a:spcBef>
              <a:spcAft>
                <a:spcPts val="2000"/>
              </a:spcAft>
              <a:buNone/>
              <a:defRPr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160246137" name="Google Shape;96;p11"/>
          <p:cNvSpPr txBox="1"/>
          <p:nvPr>
            <p:ph type="body" idx="1"/>
          </p:nvPr>
        </p:nvSpPr>
        <p:spPr bwMode="auto">
          <a:xfrm>
            <a:off x="68580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45040963" name="Google Shape;97;p11"/>
          <p:cNvSpPr txBox="1"/>
          <p:nvPr>
            <p:ph type="body" idx="2"/>
          </p:nvPr>
        </p:nvSpPr>
        <p:spPr bwMode="auto">
          <a:xfrm>
            <a:off x="936135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. Quote Full Card" preserve="0" showMasterPhAnim="0" showMasterSp="1" userDrawn="1">
  <p:cSld name="CUSTOM_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3836285" name="Google Shape;99;p12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810192194" name="Google Shape;100;p12"/>
          <p:cNvSpPr/>
          <p:nvPr/>
        </p:nvSpPr>
        <p:spPr bwMode="auto">
          <a:xfrm flipH="1">
            <a:off x="1285650" y="1009650"/>
            <a:ext cx="15717000" cy="826800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04674463" name="Google Shape;101;p12"/>
          <p:cNvSpPr txBox="1"/>
          <p:nvPr>
            <p:ph type="body" idx="1"/>
          </p:nvPr>
        </p:nvSpPr>
        <p:spPr bwMode="auto">
          <a:xfrm>
            <a:off x="2110650" y="1908000"/>
            <a:ext cx="14067000" cy="647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</a:defRPr>
            </a:lvl1pPr>
            <a:lvl2pPr marL="914400" lvl="1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</a:defRPr>
            </a:lvl2pPr>
            <a:lvl3pPr marL="1371600" lvl="2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</a:defRPr>
            </a:lvl3pPr>
            <a:lvl4pPr marL="1828800" lvl="3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</a:defRPr>
            </a:lvl4pPr>
            <a:lvl5pPr marL="2286000" lvl="4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</a:defRPr>
            </a:lvl5pPr>
            <a:lvl6pPr marL="2743200" lvl="5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</a:defRPr>
            </a:lvl6pPr>
            <a:lvl7pPr marL="3200400" lvl="6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</a:defRPr>
            </a:lvl7pPr>
            <a:lvl8pPr marL="3657600" lvl="7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</a:defRPr>
            </a:lvl8pPr>
            <a:lvl9pPr marL="4114800" lvl="8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175013" name="Google Shape;6;p1"/>
          <p:cNvSpPr txBox="1"/>
          <p:nvPr>
            <p:ph type="title"/>
          </p:nvPr>
        </p:nvSpPr>
        <p:spPr bwMode="auto"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19137516" name="Google Shape;7;p1"/>
          <p:cNvSpPr txBox="1"/>
          <p:nvPr>
            <p:ph type="body" idx="1"/>
          </p:nvPr>
        </p:nvSpPr>
        <p:spPr bwMode="auto"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lvl="1" indent="-4191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810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19085768" name="Google Shape;8;p1"/>
          <p:cNvSpPr txBox="1"/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603094" name="Google Shape;106;p13"/>
          <p:cNvSpPr txBox="1"/>
          <p:nvPr/>
        </p:nvSpPr>
        <p:spPr bwMode="auto"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40948340" name="Google Shape;107;p13"/>
          <p:cNvSpPr txBox="1"/>
          <p:nvPr>
            <p:ph type="ctrTitle"/>
          </p:nvPr>
        </p:nvSpPr>
        <p:spPr bwMode="auto"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  <a:defRPr/>
            </a:pPr>
            <a:r>
              <a:rPr lang="en"/>
              <a:t>Analysis of A/B Test Results</a:t>
            </a:r>
            <a:endParaRPr sz="1000"/>
          </a:p>
        </p:txBody>
      </p:sp>
      <p:sp>
        <p:nvSpPr>
          <p:cNvPr id="1850476320" name="Google Shape;108;p13"/>
          <p:cNvSpPr txBox="1"/>
          <p:nvPr>
            <p:ph type="subTitle" idx="1"/>
          </p:nvPr>
        </p:nvSpPr>
        <p:spPr bwMode="auto">
          <a:xfrm>
            <a:off x="1256199" y="7030708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  <a:defRPr/>
            </a:pPr>
            <a:r>
              <a:rPr lang="en" b="1"/>
              <a:t>Data Scientist:</a:t>
            </a:r>
            <a:r>
              <a:rPr lang="en-US" b="1"/>
              <a:t> </a:t>
            </a:r>
            <a:endParaRPr lang="en-US" b="1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  <a:defRPr/>
            </a:pPr>
            <a:r>
              <a:rPr lang="en-US" b="1"/>
              <a:t>Mohamed Soliman</a:t>
            </a:r>
            <a:endParaRPr b="1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  <a:defRPr/>
            </a:pPr>
            <a:endParaRPr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828842" name="Google Shape;123;p15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524783824" name="Google Shape;124;p15"/>
          <p:cNvSpPr txBox="1"/>
          <p:nvPr>
            <p:ph type="body" idx="1"/>
          </p:nvPr>
        </p:nvSpPr>
        <p:spPr bwMode="auto">
          <a:xfrm>
            <a:off x="685849" y="18288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>
                <a:solidFill>
                  <a:schemeClr val="accent1"/>
                </a:solidFill>
              </a:rPr>
              <a:t>Findings of</a:t>
            </a:r>
            <a:r>
              <a:rPr lang="en">
                <a:solidFill>
                  <a:schemeClr val="accent1"/>
                </a:solidFill>
              </a:rPr>
              <a:t> A/B test analysis</a:t>
            </a:r>
            <a:endParaRPr sz="3000">
              <a:solidFill>
                <a:srgbClr val="2D3D4A"/>
              </a:solidFill>
            </a:endParaRPr>
          </a:p>
          <a:p>
            <a:pPr marL="914400" lvl="0" indent="-723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  <a:defRPr/>
            </a:pPr>
            <a:r>
              <a:rPr lang="en" sz="4200"/>
              <a:t>Experiment Setup</a:t>
            </a:r>
            <a:endParaRPr sz="420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  <a:defRPr/>
            </a:pPr>
            <a:r>
              <a:rPr lang="en" sz="4200"/>
              <a:t>Conversion Rates</a:t>
            </a:r>
            <a:endParaRPr sz="420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  <a:defRPr/>
            </a:pPr>
            <a:r>
              <a:rPr lang="en" sz="4200"/>
              <a:t>Experiment Results</a:t>
            </a:r>
            <a:endParaRPr sz="4200"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endParaRPr sz="3000">
              <a:solidFill>
                <a:srgbClr val="2D3D4A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400"/>
              </a:spcBef>
              <a:spcAft>
                <a:spcPts val="2000"/>
              </a:spcAft>
              <a:buNone/>
              <a:defRPr/>
            </a:pP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03902" name="Google Shape;129;p16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How Was the Experiment Implemented?</a:t>
            </a:r>
            <a:endParaRPr sz="6400"/>
          </a:p>
        </p:txBody>
      </p:sp>
      <p:sp>
        <p:nvSpPr>
          <p:cNvPr id="915227899" name="Google Shape;130;p16"/>
          <p:cNvSpPr txBox="1"/>
          <p:nvPr>
            <p:ph type="body" idx="1"/>
          </p:nvPr>
        </p:nvSpPr>
        <p:spPr bwMode="auto">
          <a:xfrm flipH="0" flipV="0">
            <a:off x="11468888" y="4021666"/>
            <a:ext cx="6245760" cy="414090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en"/>
              <a:t>Total Variant Visitors:</a:t>
            </a:r>
            <a:r>
              <a:rPr lang="en-US" sz="7200" b="1">
                <a:solidFill>
                  <a:schemeClr val="tx1"/>
                </a:solidFill>
              </a:rPr>
              <a:t> </a:t>
            </a:r>
            <a:r>
              <a:rPr lang="en-US" sz="7200" b="1" i="0" u="none" strike="noStrike" cap="none" spc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35,211</a:t>
            </a:r>
            <a:endParaRPr lang="en" sz="7200" b="1">
              <a:solidFill>
                <a:schemeClr val="accent1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None/>
              <a:defRPr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en"/>
              <a:t>Total Control Participants: </a:t>
            </a:r>
            <a:endParaRPr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399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r>
              <a:rPr lang="en-US" sz="7200" b="1" i="0" u="none" strike="noStrike" cap="none" spc="0">
                <a:solidFill>
                  <a:schemeClr val="accent1">
                    <a:lumMod val="75000"/>
                  </a:schemeClr>
                </a:solidFill>
                <a:latin typeface="Courier New"/>
                <a:ea typeface="Courier New"/>
                <a:cs typeface="Courier New"/>
              </a:rPr>
              <a:t>34,678</a:t>
            </a:r>
            <a:endParaRPr lang="en-US" sz="7200" b="1" i="0" u="none" strike="noStrike" cap="none" spc="0">
              <a:solidFill>
                <a:schemeClr val="accent1">
                  <a:lumMod val="75000"/>
                </a:schemeClr>
              </a:solidFill>
              <a:latin typeface="Courier New"/>
              <a:cs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endParaRPr>
              <a:solidFill>
                <a:srgbClr val="FF0000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400"/>
              </a:spcBef>
              <a:spcAft>
                <a:spcPts val="2000"/>
              </a:spcAft>
              <a:buNone/>
              <a:defRPr/>
            </a:pPr>
            <a:endParaRPr sz="3000">
              <a:solidFill>
                <a:srgbClr val="000000"/>
              </a:solidFill>
            </a:endParaRPr>
          </a:p>
        </p:txBody>
      </p:sp>
      <p:pic>
        <p:nvPicPr>
          <p:cNvPr id="5552856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1175" y="2116666"/>
            <a:ext cx="10279934" cy="6810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099062" name="Google Shape;136;p17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Conversion</a:t>
            </a:r>
            <a:r>
              <a:rPr lang="en" sz="6400"/>
              <a:t> Rates</a:t>
            </a:r>
            <a:endParaRPr sz="6400"/>
          </a:p>
        </p:txBody>
      </p:sp>
      <p:sp>
        <p:nvSpPr>
          <p:cNvPr id="881874488" name="Google Shape;137;p17"/>
          <p:cNvSpPr txBox="1"/>
          <p:nvPr>
            <p:ph type="body" idx="1"/>
          </p:nvPr>
        </p:nvSpPr>
        <p:spPr bwMode="auto">
          <a:xfrm>
            <a:off x="947100" y="5878275"/>
            <a:ext cx="16393800" cy="25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en" sz="3600" b="1" i="0" u="none" strike="noStrike" cap="none" spc="0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 There is no obivious interaction between how country and treatment impact conversion.</a:t>
            </a:r>
            <a:endParaRPr b="1">
              <a:solidFill>
                <a:srgbClr val="FF0000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400"/>
              </a:spcBef>
              <a:spcAft>
                <a:spcPts val="2000"/>
              </a:spcAft>
              <a:buNone/>
              <a:defRPr/>
            </a:pPr>
            <a:endParaRPr sz="3000" b="1">
              <a:solidFill>
                <a:srgbClr val="000000"/>
              </a:solidFill>
            </a:endParaRPr>
          </a:p>
        </p:txBody>
      </p:sp>
      <p:graphicFrame>
        <p:nvGraphicFramePr>
          <p:cNvPr id="1402937957" name="Google Shape;138;p17"/>
          <p:cNvGraphicFramePr>
            <a:graphicFrameLocks xmlns:a="http://schemas.openxmlformats.org/drawingml/2006/main"/>
          </p:cNvGraphicFramePr>
          <p:nvPr/>
        </p:nvGraphicFramePr>
        <p:xfrm rot="0">
          <a:off x="952500" y="20281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{E1C8DA9E-B1A0-4A86-91D4-0D2497F3468D}</a:tableStyleId>
                <a:noFill/>
              </a:tblPr>
              <a:tblGrid>
                <a:gridCol w="4095750"/>
                <a:gridCol w="4095750"/>
                <a:gridCol w="4095750"/>
                <a:gridCol w="4095750"/>
              </a:tblGrid>
              <a:tr h="9813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28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3200" b="1">
                          <a:latin typeface="Open Sans"/>
                          <a:ea typeface="Open Sans"/>
                          <a:cs typeface="Open Sans"/>
                        </a:rPr>
                        <a:t>U.S.</a:t>
                      </a:r>
                      <a:endParaRPr sz="3200" b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3200" b="1">
                          <a:latin typeface="Open Sans"/>
                          <a:ea typeface="Open Sans"/>
                          <a:cs typeface="Open Sans"/>
                        </a:rPr>
                        <a:t>U.K.</a:t>
                      </a:r>
                      <a:endParaRPr sz="3200" b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3200" b="1">
                          <a:latin typeface="Open Sans"/>
                          <a:ea typeface="Open Sans"/>
                          <a:cs typeface="Open Sans"/>
                        </a:rPr>
                        <a:t>CA</a:t>
                      </a:r>
                      <a:endParaRPr sz="3200" b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</a:tr>
              <a:tr h="9813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3200" b="1">
                          <a:latin typeface="Open Sans"/>
                          <a:ea typeface="Open Sans"/>
                          <a:cs typeface="Open Sans"/>
                        </a:rPr>
                        <a:t>Control</a:t>
                      </a:r>
                      <a:endParaRPr sz="3200" b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10.7%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10.1%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09.4%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</a:tr>
              <a:tr h="9813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" sz="3200" b="1">
                          <a:latin typeface="Open Sans"/>
                          <a:ea typeface="Open Sans"/>
                          <a:cs typeface="Open Sans"/>
                        </a:rPr>
                        <a:t>Treatment</a:t>
                      </a:r>
                      <a:endParaRPr sz="3200" b="1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15.8%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14.8%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800" b="1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</a:rPr>
                        <a:t>15.4%</a:t>
                      </a:r>
                      <a:endParaRPr sz="2800"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91425" marR="91425" marT="91425" marB="9142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571865" name="Google Shape;143;p18"/>
          <p:cNvSpPr txBox="1"/>
          <p:nvPr>
            <p:ph type="title"/>
          </p:nvPr>
        </p:nvSpPr>
        <p:spPr bwMode="auto"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1881067913" name="Google Shape;144;p18"/>
          <p:cNvSpPr txBox="1"/>
          <p:nvPr>
            <p:ph type="body" idx="1"/>
          </p:nvPr>
        </p:nvSpPr>
        <p:spPr bwMode="auto">
          <a:xfrm flipH="0" flipV="0">
            <a:off x="11892222" y="2710744"/>
            <a:ext cx="5716593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">
                <a:solidFill>
                  <a:srgbClr val="0B0B0B"/>
                </a:solidFill>
              </a:rPr>
              <a:t>Treatment Conversion Rate: </a:t>
            </a:r>
            <a:r>
              <a:rPr lang="en-US" sz="36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0.15532</a:t>
            </a: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">
                <a:solidFill>
                  <a:srgbClr val="0B0B0B"/>
                </a:solidFill>
              </a:rPr>
              <a:t>Control Conversion Rate:​</a:t>
            </a:r>
            <a:r>
              <a:rPr lang="en-US">
                <a:solidFill>
                  <a:srgbClr val="0B0B0B"/>
                </a:solidFill>
              </a:rPr>
              <a:t>  </a:t>
            </a:r>
            <a:r>
              <a:rPr lang="en-US" sz="36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0.10525</a:t>
            </a: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">
                <a:solidFill>
                  <a:srgbClr val="0B0B0B"/>
                </a:solidFill>
              </a:rPr>
              <a:t>Delta in Treatment vs. Control Conversion Rate:</a:t>
            </a:r>
            <a:r>
              <a:rPr lang="en-US">
                <a:solidFill>
                  <a:srgbClr val="0B0B0B"/>
                </a:solidFill>
              </a:rPr>
              <a:t> ~ </a:t>
            </a:r>
            <a:r>
              <a:rPr lang="en-US" sz="36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0.05007</a:t>
            </a:r>
            <a:endParaRPr lang="en-US" b="1">
              <a:solidFill>
                <a:srgbClr val="0B0B0B"/>
              </a:solidFill>
            </a:endParaRPr>
          </a:p>
          <a:p>
            <a:pPr marL="495299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Open Sans"/>
              <a:buNone/>
              <a:defRPr/>
            </a:pPr>
            <a:endParaRPr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0B0B0B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400"/>
              </a:spcBef>
              <a:spcAft>
                <a:spcPts val="2000"/>
              </a:spcAft>
              <a:buNone/>
              <a:defRPr/>
            </a:pPr>
            <a:endParaRPr sz="3000">
              <a:solidFill>
                <a:srgbClr val="0B0B0B"/>
              </a:solidFill>
            </a:endParaRPr>
          </a:p>
        </p:txBody>
      </p:sp>
      <p:pic>
        <p:nvPicPr>
          <p:cNvPr id="2854928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97499" y="2273652"/>
            <a:ext cx="10658744" cy="6062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155588" name="Google Shape;143;p18"/>
          <p:cNvSpPr txBox="1"/>
          <p:nvPr>
            <p:ph type="title"/>
          </p:nvPr>
        </p:nvSpPr>
        <p:spPr bwMode="auto">
          <a:xfrm>
            <a:off x="685800" y="307964"/>
            <a:ext cx="16916400" cy="15089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2109704973" name="Google Shape;144;p18"/>
          <p:cNvSpPr txBox="1"/>
          <p:nvPr>
            <p:ph type="body" idx="1"/>
          </p:nvPr>
        </p:nvSpPr>
        <p:spPr bwMode="auto">
          <a:xfrm>
            <a:off x="685848" y="1828800"/>
            <a:ext cx="16393799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 lang="en-US" b="1"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0B0B0B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399"/>
              </a:spcBef>
              <a:spcAft>
                <a:spcPts val="1999"/>
              </a:spcAft>
              <a:buNone/>
              <a:defRPr/>
            </a:pPr>
            <a:endParaRPr sz="3000">
              <a:solidFill>
                <a:srgbClr val="0B0B0B"/>
              </a:solidFill>
            </a:endParaRPr>
          </a:p>
        </p:txBody>
      </p:sp>
      <p:pic>
        <p:nvPicPr>
          <p:cNvPr id="12079752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33021" y="1816962"/>
            <a:ext cx="13178427" cy="7145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132353" name="Google Shape;143;p18"/>
          <p:cNvSpPr txBox="1"/>
          <p:nvPr>
            <p:ph type="title"/>
          </p:nvPr>
        </p:nvSpPr>
        <p:spPr bwMode="auto">
          <a:xfrm>
            <a:off x="685800" y="307964"/>
            <a:ext cx="16916400" cy="15089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6400"/>
              <a:t>Experiment Results</a:t>
            </a:r>
            <a:endParaRPr sz="6400"/>
          </a:p>
        </p:txBody>
      </p:sp>
      <p:sp>
        <p:nvSpPr>
          <p:cNvPr id="984793677" name="Google Shape;144;p18"/>
          <p:cNvSpPr txBox="1"/>
          <p:nvPr>
            <p:ph type="body" idx="1"/>
          </p:nvPr>
        </p:nvSpPr>
        <p:spPr bwMode="auto">
          <a:xfrm>
            <a:off x="685848" y="1652410"/>
            <a:ext cx="16393799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 lang="en-US" b="1"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">
                <a:solidFill>
                  <a:srgbClr val="0B0B0B"/>
                </a:solidFill>
              </a:rPr>
              <a:t>p-value:​ </a:t>
            </a:r>
            <a:r>
              <a:rPr lang="en-US" b="1">
                <a:solidFill>
                  <a:srgbClr val="FF0000"/>
                </a:solidFill>
              </a:rPr>
              <a:t>0.0000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>
              <a:solidFill>
                <a:srgbClr val="FF0000"/>
              </a:solidFill>
            </a:endParaRPr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">
                <a:solidFill>
                  <a:srgbClr val="0B0B0B"/>
                </a:solidFill>
              </a:rPr>
              <a:t>Conclusion:</a:t>
            </a:r>
            <a:endParaRPr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r>
              <a:rPr>
                <a:solidFill>
                  <a:srgbClr val="0B0B0B"/>
                </a:solidFill>
              </a:rPr>
              <a:t> </a:t>
            </a:r>
            <a:endParaRPr>
              <a:solidFill>
                <a:srgbClr val="0B0B0B"/>
              </a:solidFill>
            </a:endParaRPr>
          </a:p>
          <a:p>
            <a:pPr marL="85725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b="1" u="sng">
                <a:solidFill>
                  <a:srgbClr val="0B0B0B"/>
                </a:solidFill>
              </a:rPr>
              <a:t>p-value &lt; 0.05</a:t>
            </a:r>
            <a:endParaRPr b="1" u="sng">
              <a:solidFill>
                <a:srgbClr val="0B0B0B"/>
              </a:solidFill>
            </a:endParaRPr>
          </a:p>
          <a:p>
            <a:pPr marL="40005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/>
            </a:pPr>
            <a:endParaRPr>
              <a:solidFill>
                <a:srgbClr val="0B0B0B"/>
              </a:solidFill>
            </a:endParaRPr>
          </a:p>
          <a:p>
            <a:pPr marL="857250" lvl="1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pPr>
            <a:r>
              <a:rPr lang="en-US" sz="30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0</a:t>
            </a:r>
            <a:r>
              <a:rPr lang="en" sz="30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% is the proportion of the p_diffs that are greater than the actual difference observed in ab_data.csv. This </a:t>
            </a:r>
            <a:r>
              <a:rPr lang="en-US" sz="30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p-</a:t>
            </a:r>
            <a:r>
              <a:rPr lang="en" sz="30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value means that</a:t>
            </a:r>
            <a:r>
              <a:rPr lang="en" sz="3000" b="1" i="0" u="none" strike="noStrike" cap="none" spc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 we </a:t>
            </a:r>
            <a:r>
              <a:rPr lang="en-US" sz="3000" b="1" i="0" u="none" strike="noStrike" cap="none" spc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can</a:t>
            </a:r>
            <a:r>
              <a:rPr lang="en" sz="3000" b="1" i="0" u="none" strike="noStrike" cap="none" spc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 reject the null hypothesis</a:t>
            </a:r>
            <a:r>
              <a:rPr lang="en" sz="3000" b="1" i="0" u="none" strike="noStrike" cap="none" spc="0">
                <a:solidFill>
                  <a:srgbClr val="0B0B0B"/>
                </a:solidFill>
                <a:latin typeface="Open Sans"/>
                <a:ea typeface="Open Sans"/>
                <a:cs typeface="Open Sans"/>
              </a:rPr>
              <a:t> and that we have sufficient evidence that the new_page has a higher conversion rate than the old_page.</a:t>
            </a:r>
            <a:endParaRPr>
              <a:solidFill>
                <a:srgbClr val="0B0B0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0B0B0B"/>
              </a:solidFill>
            </a:endParaRPr>
          </a:p>
          <a:p>
            <a:pPr marL="228600" lvl="0" indent="0" algn="l" rtl="0">
              <a:lnSpc>
                <a:spcPct val="114999"/>
              </a:lnSpc>
              <a:spcBef>
                <a:spcPts val="1399"/>
              </a:spcBef>
              <a:spcAft>
                <a:spcPts val="1999"/>
              </a:spcAft>
              <a:buNone/>
              <a:defRPr/>
            </a:pPr>
            <a:endParaRPr sz="3000">
              <a:solidFill>
                <a:srgbClr val="0B0B0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</cp:revision>
  <dcterms:modified xsi:type="dcterms:W3CDTF">2025-12-11T18:09:26Z</dcterms:modified>
</cp:coreProperties>
</file>